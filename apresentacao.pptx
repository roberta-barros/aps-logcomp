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045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4307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35562" y="460177"/>
            <a:ext cx="872877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spcAft>
                <a:spcPts val="1500"/>
              </a:spcAft>
              <a:buNone/>
            </a:pPr>
            <a:r>
              <a:rPr lang="en-US" sz="5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410908" y="1763167"/>
            <a:ext cx="432218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SAUNALANG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90709" y="2677567"/>
            <a:ext cx="59624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800" i="1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linguagem de programação para controle de saunas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19500" y="3473797"/>
            <a:ext cx="1905000" cy="28575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547927" y="3978622"/>
            <a:ext cx="204799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 - Lógica da Computação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47392" y="4458593"/>
            <a:ext cx="10492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B5A4A"/>
                </a:solidFill>
                <a:latin typeface="Arial" pitchFamily="34" charset="0"/>
                <a:cs typeface="Arial" pitchFamily="34" charset="-120"/>
              </a:rPr>
              <a:t>Roberta Barros</a:t>
            </a:r>
            <a:endParaRPr lang="en-US" sz="1050" dirty="0"/>
          </a:p>
        </p:txBody>
      </p:sp>
      <p:pic>
        <p:nvPicPr>
          <p:cNvPr id="9" name="Image 1" descr="/tmp/rasterized-gradient-039bc9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67300"/>
            <a:ext cx="9144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b8997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571500"/>
            <a:ext cx="41388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6750" y="1066800"/>
            <a:ext cx="1143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439317"/>
            <a:ext cx="3571875" cy="1081980"/>
          </a:xfrm>
          <a:prstGeom prst="roundRect">
            <a:avLst>
              <a:gd name="adj" fmla="val 7043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85800" y="1439317"/>
            <a:ext cx="0" cy="108198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95350" y="1629817"/>
            <a:ext cx="321583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 err="1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5350" y="1930747"/>
            <a:ext cx="32158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uma linguagem de alto nível para interagir com uma máquina virtual específica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6750" y="2711797"/>
            <a:ext cx="3571875" cy="1081980"/>
          </a:xfrm>
          <a:prstGeom prst="roundRect">
            <a:avLst>
              <a:gd name="adj" fmla="val 7043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85800" y="2711797"/>
            <a:ext cx="0" cy="108198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95350" y="2902297"/>
            <a:ext cx="321583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95350" y="3203228"/>
            <a:ext cx="32158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para análise léxica e Bison para análise sintática, gerando código C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6750" y="3984278"/>
            <a:ext cx="3571875" cy="881955"/>
          </a:xfrm>
          <a:prstGeom prst="roundRect">
            <a:avLst>
              <a:gd name="adj" fmla="val 8640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85800" y="3984278"/>
            <a:ext cx="0" cy="881955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95350" y="4174778"/>
            <a:ext cx="321583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750"/>
              </a:spcAft>
              <a:buNone/>
            </a:pP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95349" y="4296519"/>
            <a:ext cx="3215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de VM </a:t>
            </a:r>
            <a:r>
              <a:rPr lang="en-US" sz="1050" dirty="0" err="1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própria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19625" y="1723281"/>
            <a:ext cx="4143375" cy="2858988"/>
          </a:xfrm>
          <a:prstGeom prst="roundRect">
            <a:avLst>
              <a:gd name="adj" fmla="val 3998"/>
            </a:avLst>
          </a:prstGeom>
          <a:solidFill>
            <a:srgbClr val="3D2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303301" y="2009031"/>
            <a:ext cx="77587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buNone/>
            </a:pP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5877641" y="2136487"/>
            <a:ext cx="1627194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80"/>
              </a:lnSpc>
              <a:spcBef>
                <a:spcPts val="1125"/>
              </a:spcBef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Sauna?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869581" y="2563416"/>
            <a:ext cx="3643313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Saunas são sistemas térmicos com sensores de temperatura e peso, ideais para demonstrar controle de hardware via linguagem de alto nível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f6c8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967978"/>
            <a:ext cx="41388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6750" y="1463278"/>
            <a:ext cx="1524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939528"/>
            <a:ext cx="2476500" cy="1117997"/>
          </a:xfrm>
          <a:prstGeom prst="roundRect">
            <a:avLst>
              <a:gd name="adj" fmla="val 6816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85280" y="2176760"/>
            <a:ext cx="67431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539603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Declaração com tipo inferido e suporte a expressões aritméticas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333750" y="1939528"/>
            <a:ext cx="2476500" cy="1117997"/>
          </a:xfrm>
          <a:prstGeom prst="roundRect">
            <a:avLst>
              <a:gd name="adj" fmla="val 6816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952280" y="2176760"/>
            <a:ext cx="97595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05200" y="2539603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if/senao com todos os operadores: ==, !=, &lt;, &lt;=, &gt;, &gt;=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6000750" y="1939528"/>
            <a:ext cx="2476500" cy="1117997"/>
          </a:xfrm>
          <a:prstGeom prst="roundRect">
            <a:avLst>
              <a:gd name="adj" fmla="val 6816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19280" y="2176760"/>
            <a:ext cx="46634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2539603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para repetição condicional e sempre para loop infinito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666750" y="3248025"/>
            <a:ext cx="2476500" cy="1117997"/>
          </a:xfrm>
          <a:prstGeom prst="roundRect">
            <a:avLst>
              <a:gd name="adj" fmla="val 6816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285280" y="3485257"/>
            <a:ext cx="69997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8200" y="3848100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e peso como variáveis readonly do sistema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3333750" y="3248025"/>
            <a:ext cx="2476500" cy="1117997"/>
          </a:xfrm>
          <a:prstGeom prst="roundRect">
            <a:avLst>
              <a:gd name="adj" fmla="val 6816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952280" y="3485257"/>
            <a:ext cx="46664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505200" y="3848100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 para ajustar aquecimento e aquecer para executar ciclos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6000750" y="3248025"/>
            <a:ext cx="2476500" cy="1117997"/>
          </a:xfrm>
          <a:prstGeom prst="roundRect">
            <a:avLst>
              <a:gd name="adj" fmla="val 6816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19280" y="3485257"/>
            <a:ext cx="4147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72200" y="3848100"/>
            <a:ext cx="217627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para exibir valores e strings na tela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d1b9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499467"/>
            <a:ext cx="41388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SaunaVM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6750" y="947142"/>
            <a:ext cx="8258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Virtual Customizada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6750" y="1236613"/>
            <a:ext cx="1143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6750" y="1665238"/>
            <a:ext cx="398335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6750" y="2013793"/>
            <a:ext cx="3905250" cy="1424732"/>
          </a:xfrm>
          <a:prstGeom prst="roundRect">
            <a:avLst>
              <a:gd name="adj" fmla="val 5348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9150" y="2166193"/>
            <a:ext cx="548432" cy="419100"/>
          </a:xfrm>
          <a:prstGeom prst="roundRect">
            <a:avLst>
              <a:gd name="adj" fmla="val 9091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69114" y="2242393"/>
            <a:ext cx="248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3666" y="2623393"/>
            <a:ext cx="5594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Registrador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646039" y="2166193"/>
            <a:ext cx="548432" cy="419100"/>
          </a:xfrm>
          <a:prstGeom prst="roundRect">
            <a:avLst>
              <a:gd name="adj" fmla="val 9091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96003" y="2242393"/>
            <a:ext cx="248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40555" y="2623393"/>
            <a:ext cx="5594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Registrador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472928" y="2166193"/>
            <a:ext cx="834033" cy="419100"/>
          </a:xfrm>
          <a:prstGeom prst="roundRect">
            <a:avLst>
              <a:gd name="adj" fmla="val 9091"/>
            </a:avLst>
          </a:prstGeom>
          <a:solidFill>
            <a:srgbClr val="3D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620036" y="2242393"/>
            <a:ext cx="5398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464588" y="2623393"/>
            <a:ext cx="8507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585418" y="2166193"/>
            <a:ext cx="834182" cy="419100"/>
          </a:xfrm>
          <a:prstGeom prst="roundRect">
            <a:avLst>
              <a:gd name="adj" fmla="val 9091"/>
            </a:avLst>
          </a:prstGeom>
          <a:solidFill>
            <a:srgbClr val="3D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732525" y="2242393"/>
            <a:ext cx="5399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577077" y="2623393"/>
            <a:ext cx="850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819150" y="2922389"/>
            <a:ext cx="3600450" cy="363736"/>
          </a:xfrm>
          <a:prstGeom prst="roundRect">
            <a:avLst>
              <a:gd name="adj" fmla="val 10475"/>
            </a:avLst>
          </a:prstGeom>
          <a:solidFill>
            <a:srgbClr val="3D2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80301" y="3017639"/>
            <a:ext cx="34781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(256 posições)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666750" y="3676650"/>
            <a:ext cx="398335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Bef>
                <a:spcPts val="750"/>
              </a:spcBef>
              <a:buNone/>
            </a:pPr>
            <a:r>
              <a:rPr lang="en-US" sz="13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Térmico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66750" y="4025205"/>
            <a:ext cx="3905250" cy="809476"/>
          </a:xfrm>
          <a:prstGeom prst="roundRect">
            <a:avLst>
              <a:gd name="adj" fmla="val 9413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800100" y="4158555"/>
            <a:ext cx="37113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 = (potência × 0.15 - (T - 25) × 0.05) / √(peso/100)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0100" y="4554736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realista de aquecimento considerando dissipação e massa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57750" y="1891010"/>
            <a:ext cx="398335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Instruções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857750" y="2363391"/>
            <a:ext cx="1914525" cy="681782"/>
          </a:xfrm>
          <a:prstGeom prst="roundRect">
            <a:avLst>
              <a:gd name="adj" fmla="val 8382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53000" y="2458641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953000" y="2656731"/>
            <a:ext cx="175850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SET, MOV, LOAD, STORE, LOADV, PUSH, POP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848475" y="2363391"/>
            <a:ext cx="1914525" cy="681782"/>
          </a:xfrm>
          <a:prstGeom prst="roundRect">
            <a:avLst>
              <a:gd name="adj" fmla="val 8382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943725" y="2458641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Aritmética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943725" y="2656731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SUB, CMP, CMPI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857750" y="3121372"/>
            <a:ext cx="1914525" cy="535186"/>
          </a:xfrm>
          <a:prstGeom prst="roundRect">
            <a:avLst>
              <a:gd name="adj" fmla="val 10679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53000" y="3216622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Saltos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953000" y="341471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JMP, JEQ, JNE, JLT, JLE, JGT, JGE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6848475" y="3121372"/>
            <a:ext cx="1914525" cy="535186"/>
          </a:xfrm>
          <a:prstGeom prst="roundRect">
            <a:avLst>
              <a:gd name="adj" fmla="val 10679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943725" y="3216622"/>
            <a:ext cx="175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Sauna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943725" y="3414713"/>
            <a:ext cx="17585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HEAT, POW, PRINT, PRINTS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4857750" y="3951833"/>
            <a:ext cx="3905250" cy="657076"/>
          </a:xfrm>
          <a:prstGeom prst="roundRect">
            <a:avLst>
              <a:gd name="adj" fmla="val 11597"/>
            </a:avLst>
          </a:prstGeom>
          <a:solidFill>
            <a:srgbClr val="3D2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954714" y="4085183"/>
            <a:ext cx="37113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Turing-Completa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954714" y="4328964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+ Aritmética + Saltos condicionais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21944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436959"/>
            <a:ext cx="41388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6750" y="932259"/>
            <a:ext cx="9525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497955"/>
            <a:ext cx="3952875" cy="771227"/>
          </a:xfrm>
          <a:prstGeom prst="roundRect">
            <a:avLst>
              <a:gd name="adj" fmla="val 9880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81050" y="1612255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781050" y="1842641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temp_ideal = 80;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81050" y="2008287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contador + 1;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666750" y="2364432"/>
            <a:ext cx="3952875" cy="1268164"/>
          </a:xfrm>
          <a:prstGeom prst="roundRect">
            <a:avLst>
              <a:gd name="adj" fmla="val 6009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1050" y="2478732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781050" y="2709118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(temperatura &gt; 50) {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895350" y="2874764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"Quente!";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781050" y="3040410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senao {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95350" y="3206055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"Frio";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781050" y="3371701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66750" y="3727847"/>
            <a:ext cx="3952875" cy="936873"/>
          </a:xfrm>
          <a:prstGeom prst="roundRect">
            <a:avLst>
              <a:gd name="adj" fmla="val 8133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81050" y="3842147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Condicional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781050" y="4072533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(temperatura &lt; 80) {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895350" y="4238179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aquecer 10;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781050" y="4403824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10125" y="1313259"/>
            <a:ext cx="3952875" cy="771227"/>
          </a:xfrm>
          <a:prstGeom prst="roundRect">
            <a:avLst>
              <a:gd name="adj" fmla="val 9880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24425" y="1427559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de Sauna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4924425" y="1657945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 80;  // 80%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924425" y="1823591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aquecer 30;   // 30 segundos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10125" y="2179737"/>
            <a:ext cx="3952875" cy="771227"/>
          </a:xfrm>
          <a:prstGeom prst="roundRect">
            <a:avLst>
              <a:gd name="adj" fmla="val 9880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24425" y="2294037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(readonly)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4924425" y="2524423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temperatura; // graus C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924425" y="2690068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peso;        // gramas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10125" y="3046214"/>
            <a:ext cx="3952875" cy="771227"/>
          </a:xfrm>
          <a:prstGeom prst="roundRect">
            <a:avLst>
              <a:gd name="adj" fmla="val 9880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24425" y="3160514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4924425" y="3390900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"Temperatura:";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924425" y="3556546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temperatura;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810125" y="3912691"/>
            <a:ext cx="3952875" cy="936873"/>
          </a:xfrm>
          <a:prstGeom prst="roundRect">
            <a:avLst>
              <a:gd name="adj" fmla="val 8133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24425" y="4026991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Infinito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4924425" y="4257377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sempre {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5038725" y="4423023"/>
            <a:ext cx="36821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 para sempre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4924425" y="4588669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3a03f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285750"/>
            <a:ext cx="41388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Completo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6750" y="704850"/>
            <a:ext cx="17145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569244"/>
            <a:ext cx="4743450" cy="2728913"/>
          </a:xfrm>
          <a:prstGeom prst="roundRect">
            <a:avLst>
              <a:gd name="adj" fmla="val 2792"/>
            </a:avLst>
          </a:prstGeom>
          <a:solidFill>
            <a:srgbClr val="0D0A08"/>
          </a:solidFill>
          <a:ln w="9525">
            <a:solidFill>
              <a:srgbClr val="3D2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71525" y="1850231"/>
            <a:ext cx="4533900" cy="0"/>
          </a:xfrm>
          <a:prstGeom prst="line">
            <a:avLst/>
          </a:prstGeom>
          <a:noFill/>
          <a:ln w="9525">
            <a:solidFill>
              <a:srgbClr val="3D2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1525" y="1674019"/>
            <a:ext cx="4624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ex7.snl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71525" y="1912144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Sistema de controle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771525" y="2051149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"=== CONTROLE ===";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771525" y="2209205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Fase 1: Pre-aquecimento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771525" y="2348210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 100;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771525" y="2487216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aquecer 20;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771525" y="2645271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Fase 2: Ajuste por peso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771525" y="2784277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(peso &gt; 200) {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885825" y="2923282"/>
            <a:ext cx="45079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 90; aquecer 40;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771525" y="3062288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senao {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885825" y="3201293"/>
            <a:ext cx="45079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 70; aquecer 30;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771525" y="3340298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771525" y="3498354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8B73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Fase 3: Estabilização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771525" y="3637359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enquanto (temperatura &lt; 100) {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885825" y="3776365"/>
            <a:ext cx="45079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aquecer 5;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771525" y="3915370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771525" y="4073426"/>
            <a:ext cx="4624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 "Sessão finalizada!";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5600700" y="1777752"/>
            <a:ext cx="3162300" cy="2311896"/>
          </a:xfrm>
          <a:prstGeom prst="roundRect">
            <a:avLst>
              <a:gd name="adj" fmla="val 3296"/>
            </a:avLst>
          </a:prstGeom>
          <a:solidFill>
            <a:srgbClr val="1A1A1A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705475" y="2058739"/>
            <a:ext cx="29527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5705475" y="1882527"/>
            <a:ext cx="30118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Saída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705475" y="2120652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CONTROLE ===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5705475" y="2259657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[SAUNA] Potência: 100%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705475" y="2398663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[SAUNA] Aquecendo 20s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5705475" y="2537668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Temperatura: 150°C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5705475" y="2695724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 normal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5705475" y="2834729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[SAUNA] Potência: 70%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5705475" y="2973735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[SAUNA] Aquecendo 30s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5705475" y="3131790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estabilização...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5705475" y="3270796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estabilizada: 150°C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5705475" y="3428851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[SAUNA] Manutenção 30%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5705475" y="3567857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[SAUNA] Resfriamento 0%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5705475" y="3725912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Sessão finalizada!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5705475" y="3864918"/>
            <a:ext cx="30118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final: 73°C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d40b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571500"/>
            <a:ext cx="41388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6750" y="1066800"/>
            <a:ext cx="13335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958429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de Testes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6750" y="2293590"/>
            <a:ext cx="3905250" cy="1958132"/>
          </a:xfrm>
          <a:prstGeom prst="roundRect">
            <a:avLst>
              <a:gd name="adj" fmla="val 3891"/>
            </a:avLst>
          </a:prstGeom>
          <a:solidFill>
            <a:srgbClr val="0D0A08"/>
          </a:solidFill>
          <a:ln w="9525">
            <a:solidFill>
              <a:srgbClr val="3D2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90575" y="2658368"/>
            <a:ext cx="3657600" cy="0"/>
          </a:xfrm>
          <a:prstGeom prst="line">
            <a:avLst/>
          </a:prstGeom>
          <a:noFill/>
          <a:ln w="9525">
            <a:solidFill>
              <a:srgbClr val="2D24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90575" y="2455515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1670" y="2455515"/>
            <a:ext cx="12183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ex1.snl - Ações básicas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90575" y="2904083"/>
            <a:ext cx="3657600" cy="0"/>
          </a:xfrm>
          <a:prstGeom prst="line">
            <a:avLst/>
          </a:prstGeom>
          <a:noFill/>
          <a:ln w="9525">
            <a:solidFill>
              <a:srgbClr val="2D24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90575" y="2701230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81670" y="2701230"/>
            <a:ext cx="12897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ex2.snl - Sensor de peso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90575" y="3149798"/>
            <a:ext cx="3657600" cy="0"/>
          </a:xfrm>
          <a:prstGeom prst="line">
            <a:avLst/>
          </a:prstGeom>
          <a:noFill/>
          <a:ln w="9525">
            <a:solidFill>
              <a:srgbClr val="2D24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790575" y="2946946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81670" y="2946946"/>
            <a:ext cx="14711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ex4.snl - Loop com contador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90575" y="3395514"/>
            <a:ext cx="3657600" cy="0"/>
          </a:xfrm>
          <a:prstGeom prst="line">
            <a:avLst/>
          </a:prstGeom>
          <a:noFill/>
          <a:ln w="9525">
            <a:solidFill>
              <a:srgbClr val="2D24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790575" y="3192661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670" y="3192661"/>
            <a:ext cx="14322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ex5.snl - Aquec. automático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0575" y="3641229"/>
            <a:ext cx="3657600" cy="0"/>
          </a:xfrm>
          <a:prstGeom prst="line">
            <a:avLst/>
          </a:prstGeom>
          <a:noFill/>
          <a:ln w="9525">
            <a:solidFill>
              <a:srgbClr val="2D24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790575" y="3438376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81670" y="3438376"/>
            <a:ext cx="14043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ex6.snl - Todos operadores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90575" y="3886944"/>
            <a:ext cx="3657600" cy="0"/>
          </a:xfrm>
          <a:prstGeom prst="line">
            <a:avLst/>
          </a:prstGeom>
          <a:noFill/>
          <a:ln w="9525">
            <a:solidFill>
              <a:srgbClr val="2D24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90575" y="3684091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81670" y="3684091"/>
            <a:ext cx="13674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ex7.snl - Sessão completa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0575" y="3929807"/>
            <a:ext cx="977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81670" y="3929807"/>
            <a:ext cx="12378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ex3.snl - Erro detectado</a:t>
            </a:r>
            <a:endParaRPr lang="en-US" sz="900" dirty="0"/>
          </a:p>
        </p:txBody>
      </p:sp>
      <p:pic>
        <p:nvPicPr>
          <p:cNvPr id="27" name="Image 1" descr="/tmp/rasterized-gradient-b807ac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650802"/>
            <a:ext cx="3905250" cy="121339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13008" y="1841302"/>
            <a:ext cx="3594735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3150" dirty="0"/>
          </a:p>
        </p:txBody>
      </p:sp>
      <p:sp>
        <p:nvSpPr>
          <p:cNvPr id="29" name="Text 25"/>
          <p:cNvSpPr/>
          <p:nvPr/>
        </p:nvSpPr>
        <p:spPr>
          <a:xfrm>
            <a:off x="5013008" y="2448967"/>
            <a:ext cx="35947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75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Passando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857750" y="2978497"/>
            <a:ext cx="1905000" cy="733276"/>
          </a:xfrm>
          <a:prstGeom prst="roundRect">
            <a:avLst>
              <a:gd name="adj" fmla="val 10392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955286" y="3092797"/>
            <a:ext cx="170992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4955286" y="3450878"/>
            <a:ext cx="17099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6858000" y="2978497"/>
            <a:ext cx="1905000" cy="733276"/>
          </a:xfrm>
          <a:prstGeom prst="roundRect">
            <a:avLst>
              <a:gd name="adj" fmla="val 10392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955536" y="3092797"/>
            <a:ext cx="170992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6955536" y="3450878"/>
            <a:ext cx="17099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Instruções VM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4857750" y="3826073"/>
            <a:ext cx="1905000" cy="733276"/>
          </a:xfrm>
          <a:prstGeom prst="roundRect">
            <a:avLst>
              <a:gd name="adj" fmla="val 10392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955286" y="3940373"/>
            <a:ext cx="170992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  <p:sp>
        <p:nvSpPr>
          <p:cNvPr id="38" name="Text 34"/>
          <p:cNvSpPr/>
          <p:nvPr/>
        </p:nvSpPr>
        <p:spPr>
          <a:xfrm>
            <a:off x="4955286" y="4298454"/>
            <a:ext cx="17099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programa</a:t>
            </a:r>
            <a:endParaRPr lang="en-US" sz="825" dirty="0"/>
          </a:p>
        </p:txBody>
      </p:sp>
      <p:sp>
        <p:nvSpPr>
          <p:cNvPr id="39" name="Text 35"/>
          <p:cNvSpPr/>
          <p:nvPr/>
        </p:nvSpPr>
        <p:spPr>
          <a:xfrm>
            <a:off x="6858000" y="3826073"/>
            <a:ext cx="1905000" cy="733276"/>
          </a:xfrm>
          <a:prstGeom prst="roundRect">
            <a:avLst>
              <a:gd name="adj" fmla="val 10392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955536" y="3940373"/>
            <a:ext cx="170992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6955536" y="4298454"/>
            <a:ext cx="17099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máxima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51f63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571500"/>
            <a:ext cx="41388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Curiosidades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6750" y="1066800"/>
            <a:ext cx="1524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584127"/>
            <a:ext cx="3929063" cy="994321"/>
          </a:xfrm>
          <a:prstGeom prst="roundRect">
            <a:avLst>
              <a:gd name="adj" fmla="val 7664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37804" y="1736527"/>
            <a:ext cx="3269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Térmico Realista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237804" y="1946077"/>
            <a:ext cx="326972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temperatura máxima é limitada a 150°C, simulando saunas reais com dissipação de calor proporcional à diferença de temperatura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6750" y="2711797"/>
            <a:ext cx="3929063" cy="834330"/>
          </a:xfrm>
          <a:prstGeom prst="roundRect">
            <a:avLst>
              <a:gd name="adj" fmla="val 9133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237804" y="2864197"/>
            <a:ext cx="3269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Afeta Aquecimento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37804" y="3073747"/>
            <a:ext cx="32697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mais pesados aquecem mais lentamente (física real!). A fórmula usa raiz quadrada da massa normalizada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6750" y="3679478"/>
            <a:ext cx="3929063" cy="994321"/>
          </a:xfrm>
          <a:prstGeom prst="roundRect">
            <a:avLst>
              <a:gd name="adj" fmla="val 7664"/>
            </a:avLst>
          </a:prstGeom>
          <a:solidFill>
            <a:srgbClr val="2D24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237804" y="3831878"/>
            <a:ext cx="3269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Compilador em 2 Passes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237804" y="4041428"/>
            <a:ext cx="326972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A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parser gera bytecode com marcadores especiais (-2, -3, -4) que são resolvidos para endereços reais na segunda passagem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33938" y="1528018"/>
            <a:ext cx="40076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375"/>
              </a:spcAft>
              <a:buNone/>
            </a:pPr>
            <a:r>
              <a:rPr lang="en-US" sz="135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Atendidos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33938" y="1914674"/>
            <a:ext cx="3929063" cy="603796"/>
          </a:xfrm>
          <a:prstGeom prst="roundRect">
            <a:avLst>
              <a:gd name="adj" fmla="val 12620"/>
            </a:avLst>
          </a:prstGeom>
          <a:solidFill>
            <a:srgbClr val="1453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41280" y="2238524"/>
            <a:ext cx="1627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 completa da linguagem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33938" y="2651820"/>
            <a:ext cx="3929063" cy="603796"/>
          </a:xfrm>
          <a:prstGeom prst="roundRect">
            <a:avLst>
              <a:gd name="adj" fmla="val 12620"/>
            </a:avLst>
          </a:prstGeom>
          <a:solidFill>
            <a:srgbClr val="1453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241280" y="2975670"/>
            <a:ext cx="1164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léxica e sintática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33938" y="3388965"/>
            <a:ext cx="3929063" cy="603796"/>
          </a:xfrm>
          <a:prstGeom prst="roundRect">
            <a:avLst>
              <a:gd name="adj" fmla="val 12620"/>
            </a:avLst>
          </a:prstGeom>
          <a:solidFill>
            <a:srgbClr val="1453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41280" y="3712815"/>
            <a:ext cx="1537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SaunaVM Turing-completa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33938" y="4126111"/>
            <a:ext cx="3929063" cy="603796"/>
          </a:xfrm>
          <a:prstGeom prst="roundRect">
            <a:avLst>
              <a:gd name="adj" fmla="val 12620"/>
            </a:avLst>
          </a:prstGeom>
          <a:solidFill>
            <a:srgbClr val="1453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41280" y="4449961"/>
            <a:ext cx="13009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exemplos demonstrativos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650</Words>
  <Application>Microsoft Office PowerPoint</Application>
  <PresentationFormat>Apresentação na tela 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SaunaLang - Uma linguagem de programação para controle de saunas</dc:title>
  <dc:subject>Linguagem de Programação</dc:subject>
  <dc:creator>APS LogComp</dc:creator>
  <cp:lastModifiedBy>Roberta Barros</cp:lastModifiedBy>
  <cp:revision>2</cp:revision>
  <dcterms:created xsi:type="dcterms:W3CDTF">2025-11-30T19:49:15Z</dcterms:created>
  <dcterms:modified xsi:type="dcterms:W3CDTF">2025-12-01T00:31:00Z</dcterms:modified>
</cp:coreProperties>
</file>